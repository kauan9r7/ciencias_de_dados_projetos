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somos o grupo e analisamos as infrações de trânsito nas rodovias do DF em 2025, uma base pública com quase 789 mil autuações. Apresentar os 4 integrantes.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central guia tudo. Dela derivamos quatro eixos: ONDE, QUANDO, COMO e QUEM/QUANTO. Cada gráfico responde a um pedaço dessa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dado vem do Portal de Dados Abertos do DF. São quase 789 mil autuações e 10 colunas após o tratamento. Explicar rapidamente o que cada coluna representa, destacando valor_multa, hora e mês como numéricas.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bruta tinha texto inconsistente, colunas de localização corrompidas e datas como texto. Padronizamos, descartamos o que não servia, convertemos datas e cruzamos com os valores das multas. Resultado: zero nulos. Sermos honestos: perdemos a geolocalização e o dado é de infrações fiscalizadas.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ONDE: três vias — DF-075, DF-001 e DF-003 — concentram a maior parte das infrações. São corredores de alto fluxo. Priorizar fiscalização e engenharia de tráfego nelas faz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(mês): há meses de pico e de vale, sem tendência única. Provavelmente é efeito de fiscalização, não de comportamento. Ser honesto: medimos infrações registradas.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(dia): dias úteis dominam, pico na sexta e vale no domingo. O risco acompanha o deslocamento casa-trabalho.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(hora): picos nos horários de deslocamento, queda na madrugada. Reforça que o risco está no trânsito intenso do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COMO: a infração mais comum, isolada, é excesso de velocidade até 20% (≈47% dos casos). É o comportamento campeão e o que mais se liga a acidentes graves.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+ QUANTO (gravidade): média predomina, coerente com a infração campeã, e equivale à multa de R$130,16 — a mais comum. Graves + gravíssimas somam ~26%. As gravíssimas são minoria, mas puxam a média acima da mediana e são o maior alerta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QUEM: automóvel domina (~63%), por ser o mais comum da frota. Importante: é volume, não taxa. Sem o tamanho da frota não dá para dizer qual tipo infringe proporcionalmente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conclusões, cada uma com evidência: (1) risco concentrado em poucas vias; (2) risco segue a rotina pendular; (3) excesso de velocidade de gravidade média lidera, com cauda de gravíssimas. Cada uma aponta a um gráfico mostrado.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honesto: três limitações claras (sem taxa por veículo, sem geolocalização, dado de fiscalização). Encerrar reforçando que transformamos um dado bruto em conclusões sustentadas. Agradecer.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400800" cy="6400800"/>
          </a:xfrm>
          <a:prstGeom prst="ellipse">
            <a:avLst/>
          </a:prstGeom>
          <a:solidFill>
            <a:srgbClr val="26355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97680"/>
            <a:ext cx="5029200" cy="5029200"/>
          </a:xfrm>
          <a:prstGeom prst="ellipse">
            <a:avLst/>
          </a:prstGeom>
          <a:solidFill>
            <a:srgbClr val="2635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INTRODUÇÃO À CIÊNCIA DE DADOS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Infrações de Trânsito nas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Rodovias do Distrito Federal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Onde, quando e como as infrações se concentram — uma análise exploratória do ano de 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43269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4160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788.877 autuações registradas · Portal de Dados Abertos do DF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2542032" cy="777240"/>
          </a:xfrm>
          <a:prstGeom prst="roundRect">
            <a:avLst>
              <a:gd name="adj" fmla="val 7059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2578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Machado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566160" y="5257800"/>
            <a:ext cx="2542032" cy="777240"/>
          </a:xfrm>
          <a:prstGeom prst="roundRect">
            <a:avLst>
              <a:gd name="adj" fmla="val 7059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0" y="52578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Cauan Bastos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09360" y="5257800"/>
            <a:ext cx="2542032" cy="777240"/>
          </a:xfrm>
          <a:prstGeom prst="roundRect">
            <a:avLst>
              <a:gd name="adj" fmla="val 7059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52578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Queiroz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9052560" y="5257800"/>
            <a:ext cx="2542032" cy="777240"/>
          </a:xfrm>
          <a:prstGeom prst="roundRect">
            <a:avLst>
              <a:gd name="adj" fmla="val 7059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0" y="52578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Tarik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26355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ORIENTADORA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19056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9748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são os perfis de risco nas rodovias do DF: onde, quando e como as infrações de trânsito se concentram, e o que esses padrões revelam sobre os fatores que mais contribuem para o comportamento infrator?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914400" y="5074920"/>
            <a:ext cx="2606040" cy="1143000"/>
          </a:xfrm>
          <a:prstGeom prst="roundRect">
            <a:avLst>
              <a:gd name="adj" fmla="val 4800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5568" y="5276088"/>
            <a:ext cx="457200" cy="457200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539496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5257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3856" y="5641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quais rodovias se concentram?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721608" y="5074920"/>
            <a:ext cx="2606040" cy="1143000"/>
          </a:xfrm>
          <a:prstGeom prst="roundRect">
            <a:avLst>
              <a:gd name="adj" fmla="val 4800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22776" y="5276088"/>
            <a:ext cx="457200" cy="45720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539496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98848" y="5257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941064" y="5641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meses, dias e horas?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28816" y="5074920"/>
            <a:ext cx="2606040" cy="1143000"/>
          </a:xfrm>
          <a:prstGeom prst="roundRect">
            <a:avLst>
              <a:gd name="adj" fmla="val 4800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729984" y="5276088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539496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06056" y="5257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748272" y="5641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infrações e gravidade?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336024" y="5074920"/>
            <a:ext cx="2606040" cy="1143000"/>
          </a:xfrm>
          <a:prstGeom prst="roundRect">
            <a:avLst>
              <a:gd name="adj" fmla="val 4800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537192" y="5276088"/>
            <a:ext cx="457200" cy="457200"/>
          </a:xfrm>
          <a:prstGeom prst="ellipse">
            <a:avLst/>
          </a:prstGeom>
          <a:solidFill>
            <a:srgbClr val="C44E5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4" y="539496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113264" y="5257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/ QUANTO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555480" y="5641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veículos e valores?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veio e o que ele contém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01368"/>
            <a:ext cx="502920" cy="502920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932127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764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Portal de Dados Abertos do DF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41248" y="2286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</a:t>
            </a:r>
            <a:pPr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ano de 2025 (registro completo). Cruzado com a tabela de valores de multa da Portaria SENATRAN nº 354/2022.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246120"/>
            <a:ext cx="1645920" cy="1234440"/>
          </a:xfrm>
          <a:prstGeom prst="roundRect">
            <a:avLst>
              <a:gd name="adj" fmla="val 5926"/>
            </a:avLst>
          </a:prstGeom>
          <a:solidFill>
            <a:srgbClr val="1E2A44"/>
          </a:solidFill>
          <a:ln/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" y="3410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788.877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621792" y="3995928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(autuações)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331720" y="3246120"/>
            <a:ext cx="1645920" cy="1234440"/>
          </a:xfrm>
          <a:prstGeom prst="roundRect">
            <a:avLst>
              <a:gd name="adj" fmla="val 5926"/>
            </a:avLst>
          </a:prstGeom>
          <a:solidFill>
            <a:srgbClr val="1E2A44"/>
          </a:solidFill>
          <a:ln/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377440" y="3410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2404872" y="3995928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após tratamento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14800" y="3246120"/>
            <a:ext cx="1645920" cy="1234440"/>
          </a:xfrm>
          <a:prstGeom prst="roundRect">
            <a:avLst>
              <a:gd name="adj" fmla="val 5926"/>
            </a:avLst>
          </a:prstGeom>
          <a:solidFill>
            <a:srgbClr val="1E2A44"/>
          </a:solidFill>
          <a:ln/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160520" y="3410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4187952" y="3995928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analisado (2025)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47091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colunas numéricas de interesse são valor_multa, hora e mês; cometimento é temporal e as demais são categóricas.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colunas do dataset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2024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97480"/>
                <a:gridCol w="123444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descricao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da infração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tipo_infrator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responde pela infração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tipo_veiculo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veículo envolvido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cometimento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do cometimento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grav_tipo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Gravidade (leve→gravíssima)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dia_da_semana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da semana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valor_multa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da multa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hora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 do dia (0–23)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(1–12)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5E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rodovia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da rodovia (df-075…)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A76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&amp; LIMPEZA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bruto a uma base confiável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94360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737360"/>
            <a:ext cx="521208" cy="521208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22" y="1872874"/>
            <a:ext cx="250180" cy="250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673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 e consolidação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63040" y="1975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CSVs mensais da transparência do DF e unificação em uma base única.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551176"/>
            <a:ext cx="594360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2734056"/>
            <a:ext cx="521208" cy="52120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22" y="2869570"/>
            <a:ext cx="250180" cy="2501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6700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Padronização de texto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46304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em minúsculo, sem acento nem espaços extras, para evitar duplicatas falsas.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547872"/>
            <a:ext cx="594360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730752"/>
            <a:ext cx="521208" cy="521208"/>
          </a:xfrm>
          <a:prstGeom prst="ellipse">
            <a:avLst/>
          </a:prstGeom>
          <a:solidFill>
            <a:srgbClr val="C44E5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22" y="3866266"/>
            <a:ext cx="250180" cy="2501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6667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Nulos e colunas ruins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63040" y="39684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auinf_* (lat/long corrompidas, muitos nulos) e código bruto foram descartadas.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544568"/>
            <a:ext cx="594360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4727448"/>
            <a:ext cx="521208" cy="521208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22" y="4862962"/>
            <a:ext cx="250180" cy="2501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663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 e features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463040" y="49651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para datetime; extração de mês, hora e dia da semana.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5541264"/>
            <a:ext cx="594360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9808" y="5724144"/>
            <a:ext cx="521208" cy="521208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22" y="5859658"/>
            <a:ext cx="250180" cy="2501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56601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Cruzamento de valores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463040" y="59618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com a tabela da Portaria SENATRAN para anexar o valor em R$.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858000" y="1554480"/>
            <a:ext cx="4754880" cy="2240280"/>
          </a:xfrm>
          <a:prstGeom prst="roundRect">
            <a:avLst>
              <a:gd name="adj" fmla="val 4082"/>
            </a:avLst>
          </a:prstGeom>
          <a:solidFill>
            <a:srgbClr val="1E2A44"/>
          </a:solidFill>
          <a:ln/>
          <a:effectLst>
            <a:outerShdw sx="100000" sy="100000" kx="0" ky="0" algn="bl" rotWithShape="0" blurRad="114300" dist="38100" dir="5400000">
              <a:srgbClr val="8894A6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150608" y="186537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8009" y="2012777"/>
            <a:ext cx="272125" cy="2721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863840" y="18653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da limpeza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168896" y="2606040"/>
            <a:ext cx="4151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valores nulos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 10 colunas finais após o tratamento. Tipagens nativas do pandas preservadas e salvas em formato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.parquet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leitura rápida e confiável na etapa de análise.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6858000" y="397764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BEEDC"/>
          </a:solidFill>
          <a:ln w="15875">
            <a:solidFill>
              <a:srgbClr val="E9A23B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7150608" y="425196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1367" y="4382719"/>
            <a:ext cx="241402" cy="24140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77240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Honestidade sobre o dado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7168896" y="4818888"/>
            <a:ext cx="4151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5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geolocalização (lat/long) veio corrompida e foi descartada — a análise espacial ficou limitada ao código da rodovia. O conjunto registra infrações fiscalizadas, não todas as cometidas.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· GRÁFICO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rodovias que concentram as infrações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463040"/>
            <a:ext cx="70408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7" name="Image 1" descr="g1_rodovi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8820"/>
            <a:ext cx="6766560" cy="3749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91272" y="1993392"/>
            <a:ext cx="548640" cy="548640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18" y="213603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0" y="19751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concentrado em poucas vias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27848" y="2670048"/>
            <a:ext cx="3410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infrações não se espalham de forma uniforme pelo DF. A DF-075 (EPNB) lidera com folga (≈195 mil), seguida pela DF-001 (EPCT, o Anel Viário) e pela DF-003 (EPIA). Essas três vias sozinhas concentram a maior parte dos registros identificáveis — são corredores de alto fluxo. A fiscalização e o risco estão geograficamente concentrados.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· GRÁFICO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volume oscila ao longo do ano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463040"/>
            <a:ext cx="70408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7" name="Image 1" descr="g2_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9775"/>
            <a:ext cx="6766560" cy="330712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91272" y="1993392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18" y="213603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0" y="19751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tendência única — picos e vales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27848" y="2670048"/>
            <a:ext cx="3410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 infrações varia mês a mês, sem uma tendência clara de alta ou queda. Essa oscilação reflete mais a intensidade da fiscalização (campanhas, radares ativos) do que uma mudança real de comportamento — o número de carros nas ruas não muda tanto. Lembrete honesto: o dado mede infrações registradas, que dependem de fiscalização.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· GRÁFICO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Dias úteis pesam mais que o fim de semana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463040"/>
            <a:ext cx="70408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7" name="Image 1" descr="g3_diasem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5980"/>
            <a:ext cx="676656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91272" y="1993392"/>
            <a:ext cx="548640" cy="548640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18" y="213603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0" y="19751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risco segue a rotina pendular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27848" y="2670048"/>
            <a:ext cx="3410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dias úteis (azul) concentram bem mais infrações que o fim de semana (vermelho). Sexta-feira é o pico e domingo o menor. Isso acompanha o volume de tráfego: durante a semana há o deslocamento casa-trabalho, com mais carros e mais radares ativos em horário comercial. O perfil de risco está ligado ao trânsito de rotina, não ao lazer.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· GRÁFICO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infrações se concentram nas horas de pico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463040"/>
            <a:ext cx="70408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7" name="Image 1" descr="g4_ho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5860"/>
            <a:ext cx="6766560" cy="3154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91272" y="1993392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18" y="213603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0" y="19751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movimento, mais autuações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27848" y="2670048"/>
            <a:ext cx="3410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infrações sobem ao longo da manhã e da tarde e despencam na madrugada. Os horários de maior movimento — ida para trabalho/escola e o retorno no fim da tarde — são os de maior número de autuações. Confirma o padrão dos gráficos anteriores: o risco está atrelado ao trânsito intenso do dia a dia.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· GRÁFICO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excesso de velocidade domina o ranking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463040"/>
            <a:ext cx="70408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7" name="Image 1" descr="g5_infraco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5816"/>
            <a:ext cx="6766560" cy="3375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91272" y="1993392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18" y="213603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0" y="19751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 acima do limite é a nº 1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27848" y="2670048"/>
            <a:ext cx="3410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Transitar acima da velocidade máxima em até 20% é, isolada, a infração mais comum — cerca de 47% de todos os registros, muito à frente das demais. Em seguida aparecem transitar na faixa da direita e outras condutas. O comportamento infrator nº 1 nas rodovias do DF é dirigir acima do limite — o fator clássico associado a acidentes mais graves.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&amp; QUANTO · GRÁFICO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Gravidade: a maioria é de nível médio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48463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7" name="Image 1" descr="g6_gravidade_bar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87549"/>
            <a:ext cx="4572000" cy="276870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1645920"/>
            <a:ext cx="3017520" cy="4251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9" name="Image 2" descr="g6_gravidade_pizz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342787"/>
            <a:ext cx="2743200" cy="285822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00100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257032" y="1993392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678" y="2136038"/>
            <a:ext cx="263347" cy="2633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61120" y="19751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predomina, mas 1 em 4 é grave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293608" y="2670048"/>
            <a:ext cx="304495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das infrações é de gravidade média, seguida de leve. Graves e gravíssimas, juntas, somam cerca de 26% dos registros — longe de desprezível. Como os valores são tabelados pelo CTB, a gravidade média corresponde à multa de R$ 130,16, a mais comum: o valor típico é baixo, mas a cauda de gravíssimas puxa a média (R$ 168) acima da mediana (R$ 130). O volume de gravíssimas é o maior alerta de segurança.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44E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· GRÁFICO 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automóvel responde pela maioria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463040"/>
            <a:ext cx="70408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4000"/>
              </a:srgbClr>
            </a:outerShdw>
          </a:effectLst>
        </p:spPr>
      </p:sp>
      <p:pic>
        <p:nvPicPr>
          <p:cNvPr id="7" name="Image 1" descr="g7_veicul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8820"/>
            <a:ext cx="6766560" cy="3749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891272" y="1993392"/>
            <a:ext cx="548640" cy="548640"/>
          </a:xfrm>
          <a:prstGeom prst="ellipse">
            <a:avLst/>
          </a:prstGeom>
          <a:solidFill>
            <a:srgbClr val="C44E5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918" y="213603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0" y="19751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— não risco por veículo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27848" y="2670048"/>
            <a:ext cx="34107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automóvel domina amplamente as autuações (≈63%), o que é esperado por ser o veículo mais comum da frota. Em seguida vêm caminhonete, motocicleta e camioneta. Honestidade: este gráfico mostra volume absoluto, não risco por veículo. Para dizer qual tipo infringe proporcionalmente mais, precisaríamos do tamanho da frota de cada categoria — que não está nestes dados.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respostas à pergunta central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38528"/>
            <a:ext cx="566928" cy="566928"/>
          </a:xfrm>
          <a:prstGeom prst="ellipse">
            <a:avLst/>
          </a:prstGeom>
          <a:solidFill>
            <a:srgbClr val="2E5E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08592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19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O risco é geograficamente concentrado (ONDE)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600200" y="212140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vias respondem pela maior parte dos registros — DF-075, DF-001 e DF-003 são corredores de alto fluxo. Para reduzir infrações, priorizar fiscalização e engenharia de tráfego nessas vias.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555480" y="19751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2E5E8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555480" y="19751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401568"/>
            <a:ext cx="566928" cy="56692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3548969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1821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O risco segue o trânsito de rotina (QUANDO)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600200" y="35844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infrações se concentram em dias úteis (pico na sexta, vale no domingo) e nas horas de movimento. O padrão acompanha o deslocamento casa-trabalho, não o lazer de fim de semana.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555480" y="343814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555480" y="34381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2, 3 e 4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48056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864608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5012009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Excesso de velocidade de gravidade média lidera (COMO)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1600200" y="504748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infração isolada mais comum é velocidade até 20% acima do limite (≈47%), e a gravidade predominante é média. Valor típico baixo (~R$130), com uma cauda de multas caras e gravíssimas — minoria, mas o maior alerta.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555480" y="490118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555480" y="49011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5 e 6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2025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5943600" cy="5943600"/>
          </a:xfrm>
          <a:prstGeom prst="ellipse">
            <a:avLst/>
          </a:prstGeom>
          <a:solidFill>
            <a:srgbClr val="26355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SOBRE OS DADOS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não permitem afirmar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496312"/>
            <a:ext cx="530352" cy="530352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884" y="2634204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31343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medimos risco por veículo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83080" y="267919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7 mostra volume, não taxa: falta o tamanho da frota de cada categoria para comparar de forma proporcional.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56616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3913632"/>
            <a:ext cx="530352" cy="530352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84" y="4051524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73075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espacial limitada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783080" y="409651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latitude/longitude vieram corrompidos e foram descartados — a localização ficou no nível do código da rodovia.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498348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263552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78992" y="5330952"/>
            <a:ext cx="530352" cy="530352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884" y="5468844"/>
            <a:ext cx="254569" cy="2545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514807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Infrações fiscalizadas, não todas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783080" y="55138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temporais podem refletir radares ativos e campanhas, não apenas o comportamento real dos motoristas.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909560" y="214884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2E5E8C"/>
          </a:solidFill>
          <a:ln/>
          <a:effectLst>
            <a:outerShdw sx="100000" sy="100000" kx="0" ky="0" algn="bl" rotWithShape="0" blurRad="114300" dist="38100" dir="5400000">
              <a:srgbClr val="8894A6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4020" y="2560320"/>
            <a:ext cx="731520" cy="73152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215" y="275051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8388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bruto à conclusão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229600" y="4389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Onde, quando e como — os perfis de risco do trânsito no DF, sustentados por evidência e leitura honesta dos dados.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·  Enzo · Cauan · Gabriel · João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Infrações de Trânsito nas Rodovias do DF (2025)</dc:title>
  <dc:subject>PptxGenJS Presentation</dc:subject>
  <dc:creator>Enzo Machado, Cauan Bastos, Gabriel Queiroz, João Tarik</dc:creator>
  <cp:lastModifiedBy>Enzo Machado, Cauan Bastos, Gabriel Queiroz, João Tarik</cp:lastModifiedBy>
  <cp:revision>1</cp:revision>
  <dcterms:created xsi:type="dcterms:W3CDTF">2026-06-25T09:24:56Z</dcterms:created>
  <dcterms:modified xsi:type="dcterms:W3CDTF">2026-06-25T09:24:56Z</dcterms:modified>
</cp:coreProperties>
</file>